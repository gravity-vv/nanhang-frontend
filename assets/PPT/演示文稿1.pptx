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3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192000" cy="6858000"/>
  <p:notesSz cx="6858000" cy="9144000"/>
  <p:custDataLst>
    <p:tags r:id="rId7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gs" Target="tags/tag73.xml"/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tags" Target="../tags/tag70.xml"/><Relationship Id="rId8" Type="http://schemas.openxmlformats.org/officeDocument/2006/relationships/tags" Target="../tags/tag69.xml"/><Relationship Id="rId7" Type="http://schemas.openxmlformats.org/officeDocument/2006/relationships/tags" Target="../tags/tag68.xml"/><Relationship Id="rId6" Type="http://schemas.openxmlformats.org/officeDocument/2006/relationships/tags" Target="../tags/tag67.xml"/><Relationship Id="rId5" Type="http://schemas.openxmlformats.org/officeDocument/2006/relationships/tags" Target="../tags/tag66.xml"/><Relationship Id="rId4" Type="http://schemas.openxmlformats.org/officeDocument/2006/relationships/tags" Target="../tags/tag65.xml"/><Relationship Id="rId3" Type="http://schemas.openxmlformats.org/officeDocument/2006/relationships/tags" Target="../tags/tag64.xml"/><Relationship Id="rId2" Type="http://schemas.openxmlformats.org/officeDocument/2006/relationships/image" Target="../media/image1.png"/><Relationship Id="rId15" Type="http://schemas.openxmlformats.org/officeDocument/2006/relationships/slideLayout" Target="../slideLayouts/slideLayout1.xml"/><Relationship Id="rId14" Type="http://schemas.openxmlformats.org/officeDocument/2006/relationships/tags" Target="../tags/tag72.xml"/><Relationship Id="rId13" Type="http://schemas.openxmlformats.org/officeDocument/2006/relationships/image" Target="../media/image4.png"/><Relationship Id="rId12" Type="http://schemas.openxmlformats.org/officeDocument/2006/relationships/tags" Target="../tags/tag71.xml"/><Relationship Id="rId11" Type="http://schemas.openxmlformats.org/officeDocument/2006/relationships/image" Target="../media/image3.svg"/><Relationship Id="rId10" Type="http://schemas.openxmlformats.org/officeDocument/2006/relationships/image" Target="../media/image2.png"/><Relationship Id="rId1" Type="http://schemas.openxmlformats.org/officeDocument/2006/relationships/tags" Target="../tags/tag6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4297452" y="3231563"/>
            <a:ext cx="4506155" cy="3305307"/>
          </a:xfrm>
          <a:prstGeom prst="rect">
            <a:avLst/>
          </a:prstGeom>
        </p:spPr>
      </p:pic>
      <p:grpSp>
        <p:nvGrpSpPr>
          <p:cNvPr id="22" name="组合 21"/>
          <p:cNvGrpSpPr/>
          <p:nvPr/>
        </p:nvGrpSpPr>
        <p:grpSpPr>
          <a:xfrm>
            <a:off x="474162" y="5388145"/>
            <a:ext cx="3416432" cy="1051635"/>
            <a:chOff x="4323710" y="5542177"/>
            <a:chExt cx="3876573" cy="1051635"/>
          </a:xfrm>
        </p:grpSpPr>
        <p:sp>
          <p:nvSpPr>
            <p:cNvPr id="23" name="文本框 22"/>
            <p:cNvSpPr txBox="1"/>
            <p:nvPr>
              <p:custDataLst>
                <p:tags r:id="rId3"/>
              </p:custDataLst>
            </p:nvPr>
          </p:nvSpPr>
          <p:spPr>
            <a:xfrm>
              <a:off x="4481401" y="5542177"/>
              <a:ext cx="3718882" cy="10516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</a:rPr>
                <a:t>基于</a:t>
              </a:r>
              <a:r>
                <a:rPr lang="zh-CN" altLang="en-US" sz="1400" b="1" dirty="0">
                  <a:solidFill>
                    <a:prstClr val="black"/>
                  </a:solidFill>
                  <a:latin typeface="微软雅黑" panose="020B0503020204020204" charset="-122"/>
                  <a:ea typeface="微软雅黑" panose="020B0503020204020204" charset="-122"/>
                </a:rPr>
                <a:t>区块链的高效跨域认证</a:t>
              </a:r>
              <a:endPara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endParaRPr>
            </a:p>
            <a:p>
              <a:pPr marL="171450" indent="-171450">
                <a:lnSpc>
                  <a:spcPts val="1700"/>
                </a:lnSpc>
                <a:buFont typeface="Arial" panose="020B0604020202020204" pitchFamily="34" charset="0"/>
                <a:buChar char="•"/>
                <a:defRPr/>
              </a:pP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Times New Roman" panose="02020603050405020304" pitchFamily="18" charset="0"/>
                </a:rPr>
                <a:t>身份认证信息可信共享，建立跨域互信</a:t>
              </a:r>
              <a:endPara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Times New Roman" panose="02020603050405020304" pitchFamily="18" charset="0"/>
              </a:endParaRPr>
            </a:p>
            <a:p>
              <a:pPr marL="171450" indent="-171450">
                <a:lnSpc>
                  <a:spcPts val="1700"/>
                </a:lnSpc>
                <a:buFont typeface="Arial" panose="020B0604020202020204" pitchFamily="34" charset="0"/>
                <a:buChar char="•"/>
                <a:defRPr/>
              </a:pP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Times New Roman" panose="02020603050405020304" pitchFamily="18" charset="0"/>
                </a:rPr>
                <a:t>链上比对查验数字证书，简化认证流程</a:t>
              </a:r>
              <a:endPara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Times New Roman" panose="02020603050405020304" pitchFamily="18" charset="0"/>
              </a:endParaRPr>
            </a:p>
            <a:p>
              <a:pPr marL="171450" indent="-171450">
                <a:lnSpc>
                  <a:spcPts val="1700"/>
                </a:lnSpc>
                <a:buFont typeface="Arial" panose="020B0604020202020204" pitchFamily="34" charset="0"/>
                <a:buChar char="•"/>
                <a:defRPr/>
              </a:pPr>
              <a:r>
                <a:rPr lang="zh-CN" altLang="en-US" sz="1200" dirty="0">
                  <a:solidFill>
                    <a:prstClr val="black"/>
                  </a:solidFill>
                  <a:latin typeface="微软雅黑" panose="020B0503020204020204" charset="-122"/>
                  <a:ea typeface="微软雅黑" panose="020B0503020204020204" charset="-122"/>
                  <a:cs typeface="Times New Roman" panose="02020603050405020304" pitchFamily="18" charset="0"/>
                </a:rPr>
                <a:t>抵御单点故障，</a:t>
              </a: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Times New Roman" panose="02020603050405020304" pitchFamily="18" charset="0"/>
                </a:rPr>
                <a:t>提供高可用认证服务</a:t>
              </a:r>
              <a:endParaRPr lang="en-US" altLang="zh-CN" sz="1200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  <a:cs typeface="Times New Roman" panose="02020603050405020304" pitchFamily="18" charset="0"/>
              </a:endParaRPr>
            </a:p>
          </p:txBody>
        </p:sp>
        <p:sp>
          <p:nvSpPr>
            <p:cNvPr id="24" name="等腰三角形 23"/>
            <p:cNvSpPr/>
            <p:nvPr>
              <p:custDataLst>
                <p:tags r:id="rId4"/>
              </p:custDataLst>
            </p:nvPr>
          </p:nvSpPr>
          <p:spPr>
            <a:xfrm rot="5400000">
              <a:off x="4313634" y="5666049"/>
              <a:ext cx="177843" cy="157692"/>
            </a:xfrm>
            <a:prstGeom prst="triangle">
              <a:avLst/>
            </a:prstGeom>
            <a:solidFill>
              <a:srgbClr val="3C2078"/>
            </a:solidFill>
            <a:ln w="38100" cap="flat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等线" panose="02010600030101010101" charset="-122"/>
              </a:endParaRPr>
            </a:p>
          </p:txBody>
        </p:sp>
      </p:grpSp>
      <p:sp>
        <p:nvSpPr>
          <p:cNvPr id="4" name="矩形: 圆角 2"/>
          <p:cNvSpPr/>
          <p:nvPr>
            <p:custDataLst>
              <p:tags r:id="rId5"/>
            </p:custDataLst>
          </p:nvPr>
        </p:nvSpPr>
        <p:spPr>
          <a:xfrm>
            <a:off x="304800" y="2880553"/>
            <a:ext cx="1687818" cy="368755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集中式身份认证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40" name="矩形: 圆角 39"/>
          <p:cNvSpPr/>
          <p:nvPr>
            <p:custDataLst>
              <p:tags r:id="rId6"/>
            </p:custDataLst>
          </p:nvPr>
        </p:nvSpPr>
        <p:spPr>
          <a:xfrm>
            <a:off x="4292847" y="2891086"/>
            <a:ext cx="2712427" cy="368755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Times New Roman" panose="02020603050405020304" pitchFamily="18" charset="0"/>
              </a:rPr>
              <a:t>基于区块链的分布式身份认证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grpSp>
        <p:nvGrpSpPr>
          <p:cNvPr id="6" name="组合 5"/>
          <p:cNvGrpSpPr/>
          <p:nvPr/>
        </p:nvGrpSpPr>
        <p:grpSpPr>
          <a:xfrm>
            <a:off x="3325246" y="3482868"/>
            <a:ext cx="1130697" cy="840056"/>
            <a:chOff x="3494941" y="3482868"/>
            <a:chExt cx="1130697" cy="840056"/>
          </a:xfrm>
        </p:grpSpPr>
        <p:grpSp>
          <p:nvGrpSpPr>
            <p:cNvPr id="5" name="组合 4"/>
            <p:cNvGrpSpPr/>
            <p:nvPr/>
          </p:nvGrpSpPr>
          <p:grpSpPr>
            <a:xfrm>
              <a:off x="3494941" y="3482868"/>
              <a:ext cx="1087292" cy="840056"/>
              <a:chOff x="3006968" y="5426531"/>
              <a:chExt cx="1087292" cy="840056"/>
            </a:xfrm>
          </p:grpSpPr>
          <p:sp>
            <p:nvSpPr>
              <p:cNvPr id="36" name="箭头: 右 35"/>
              <p:cNvSpPr/>
              <p:nvPr>
                <p:custDataLst>
                  <p:tags r:id="rId7"/>
                </p:custDataLst>
              </p:nvPr>
            </p:nvSpPr>
            <p:spPr>
              <a:xfrm>
                <a:off x="3006968" y="5426531"/>
                <a:ext cx="924634" cy="840056"/>
              </a:xfrm>
              <a:prstGeom prst="rightArrow">
                <a:avLst>
                  <a:gd name="adj1" fmla="val 59699"/>
                  <a:gd name="adj2" fmla="val 0"/>
                </a:avLst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r>
                  <a:rPr kumimoji="0" lang="zh-CN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微软雅黑" panose="020B0503020204020204" charset="-122"/>
                    <a:ea typeface="微软雅黑" panose="020B0503020204020204" charset="-122"/>
                    <a:cs typeface="Times New Roman" panose="02020603050405020304" pitchFamily="18" charset="0"/>
                  </a:rPr>
                  <a:t>认证效率大幅提升</a:t>
                </a:r>
                <a:endParaRPr lang="en-US" altLang="zh-CN" sz="1400" dirty="0">
                  <a:solidFill>
                    <a:srgbClr val="7F7F7F"/>
                  </a:solidFill>
                </a:endParaRPr>
              </a:p>
            </p:txBody>
          </p:sp>
          <p:sp>
            <p:nvSpPr>
              <p:cNvPr id="8" name="等腰三角形 7"/>
              <p:cNvSpPr/>
              <p:nvPr>
                <p:custDataLst>
                  <p:tags r:id="rId8"/>
                </p:custDataLst>
              </p:nvPr>
            </p:nvSpPr>
            <p:spPr>
              <a:xfrm rot="5400000">
                <a:off x="3624298" y="5761973"/>
                <a:ext cx="773448" cy="166476"/>
              </a:xfrm>
              <a:prstGeom prst="triangl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pic>
          <p:nvPicPr>
            <p:cNvPr id="42" name="图形 41" descr="箭头: 顺时针弯曲 纯色填充"/>
            <p:cNvPicPr>
              <a:picLocks noChangeAspect="1"/>
            </p:cNvPicPr>
            <p:nvPr>
              <p:custDataLst>
                <p:tags r:id="rId9"/>
              </p:custDataLst>
            </p:nvPr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4205876" y="3698728"/>
              <a:ext cx="419762" cy="483338"/>
            </a:xfrm>
            <a:prstGeom prst="rect">
              <a:avLst/>
            </a:prstGeom>
          </p:spPr>
        </p:pic>
      </p:grpSp>
      <p:pic>
        <p:nvPicPr>
          <p:cNvPr id="9" name="图片 8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286345" y="3204349"/>
            <a:ext cx="3112176" cy="2255424"/>
          </a:xfrm>
          <a:prstGeom prst="rect">
            <a:avLst/>
          </a:prstGeom>
        </p:spPr>
      </p:pic>
    </p:spTree>
    <p:custDataLst>
      <p:tags r:id="rId14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BEAUTIFY_FLAG" val=""/>
</p:tagLst>
</file>

<file path=ppt/tags/tag64.xml><?xml version="1.0" encoding="utf-8"?>
<p:tagLst xmlns:p="http://schemas.openxmlformats.org/presentationml/2006/main">
  <p:tag name="KSO_WM_BEAUTIFY_FLAG" val=""/>
</p:tagLst>
</file>

<file path=ppt/tags/tag65.xml><?xml version="1.0" encoding="utf-8"?>
<p:tagLst xmlns:p="http://schemas.openxmlformats.org/presentationml/2006/main">
  <p:tag name="KSO_WM_BEAUTIFY_FLAG" val=""/>
</p:tagLst>
</file>

<file path=ppt/tags/tag66.xml><?xml version="1.0" encoding="utf-8"?>
<p:tagLst xmlns:p="http://schemas.openxmlformats.org/presentationml/2006/main">
  <p:tag name="KSO_WM_BEAUTIFY_FLAG" val=""/>
</p:tagLst>
</file>

<file path=ppt/tags/tag67.xml><?xml version="1.0" encoding="utf-8"?>
<p:tagLst xmlns:p="http://schemas.openxmlformats.org/presentationml/2006/main">
  <p:tag name="KSO_WM_BEAUTIFY_FLAG" val=""/>
</p:tagLst>
</file>

<file path=ppt/tags/tag68.xml><?xml version="1.0" encoding="utf-8"?>
<p:tagLst xmlns:p="http://schemas.openxmlformats.org/presentationml/2006/main">
  <p:tag name="KSO_WM_BEAUTIFY_FLAG" val=""/>
</p:tagLst>
</file>

<file path=ppt/tags/tag69.xml><?xml version="1.0" encoding="utf-8"?>
<p:tagLst xmlns:p="http://schemas.openxmlformats.org/presentationml/2006/main">
  <p:tag name="KSO_WM_BEAUTIFY_FLAG" val=""/>
</p:tagLst>
</file>

<file path=ppt/tags/tag70.xml><?xml version="1.0" encoding="utf-8"?>
<p:tagLst xmlns:p="http://schemas.openxmlformats.org/presentationml/2006/main">
  <p:tag name="KSO_WM_BEAUTIFY_FLAG" val=""/>
</p:tagLst>
</file>

<file path=ppt/tags/tag71.xml><?xml version="1.0" encoding="utf-8"?>
<p:tagLst xmlns:p="http://schemas.openxmlformats.org/presentationml/2006/main">
  <p:tag name="KSO_WM_BEAUTIFY_FLAG" val=""/>
</p:tagLst>
</file>

<file path=ppt/tags/tag72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3.xml><?xml version="1.0" encoding="utf-8"?>
<p:tagLst xmlns:p="http://schemas.openxmlformats.org/presentationml/2006/main">
  <p:tag name="commondata" val="eyJoZGlkIjoiYzVmNGVkYmJlMGJhMTM1NzBhOWU3NzU1Yjk4NzA5NWYifQ==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90</Words>
  <Application>WPS 演示</Application>
  <PresentationFormat>宽屏</PresentationFormat>
  <Paragraphs>11</Paragraphs>
  <Slides>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1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Times New Roman</vt:lpstr>
      <vt:lpstr>等线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hbZhang</cp:lastModifiedBy>
  <cp:revision>155</cp:revision>
  <dcterms:created xsi:type="dcterms:W3CDTF">2019-06-19T02:08:00Z</dcterms:created>
  <dcterms:modified xsi:type="dcterms:W3CDTF">2026-04-09T06:44:58Z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2052-12.1.0.16120</vt:lpwstr>
  </property>
  <property fmtid="{D5CDD505-2E9C-101B-9397-08002B2CF9AE}" pid="3" name="ICV">
    <vt:lpwstr>98A73A0E3D034E1DBAC56C5768F2DC02_11</vt:lpwstr>
  </property>
</Properties>
</file>